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6" r:id="rId9"/>
    <p:sldId id="267" r:id="rId10"/>
    <p:sldId id="265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8BE3E2-59B3-BD79-8110-074E2A31C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F742C8-1F53-6F6A-E3B5-BFB37F14C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AF1321-6D2A-8EAD-01BA-9F5BD35D2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7183A-56AE-4684-9C95-5FB84A65F4E3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8D6A4A-0610-4909-8CF8-F79F38A1E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8EA474-F21C-E660-A885-C2F02C6B4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4752E-76BE-4967-AF35-7C8F692636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0103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31CEEE-48BC-C330-20F3-5E87D096B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84FA31-BEA0-694A-4CA5-DE6E39DC7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1C2E7F-73FE-0617-E6D5-DD945D532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7183A-56AE-4684-9C95-5FB84A65F4E3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44C216-F9DA-215D-1F9F-93361369E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DAB254-AF49-DCCF-623B-F46C27026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4752E-76BE-4967-AF35-7C8F6926364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1381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9CDB41-9A87-39DE-EE91-EAA09B9E2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1D220B-BEB2-0956-B068-BB0C318DC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BD93F6-49EA-7457-D235-47413C6B4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7183A-56AE-4684-9C95-5FB84A65F4E3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CCF5B4-C382-D96B-3071-B87388BA5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2B9C7F-7111-EA66-1728-8FF0F18A8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4752E-76BE-4967-AF35-7C8F692636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538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5FF476-12E3-7D0B-3306-89BB6DA40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C7DB95-18A9-0F83-08CE-19419BEE1B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CEC124-A37E-1744-E7DC-AB228EB11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B1B7F9-CDF6-7B3C-FB57-7B7739359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7183A-56AE-4684-9C95-5FB84A65F4E3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78E0A8-2A09-31CD-74E2-01E0D5E0E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F02324-A4E3-2AAF-248A-E94A96D22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4752E-76BE-4967-AF35-7C8F692636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629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78415-421F-D0AA-CB92-603EEB2F5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E8B652-E13B-D049-A852-C3FF434D2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680C25B-042A-8555-8CE3-56868CDA1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7DA3C0-F38B-AC95-D525-FC122A0CC8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EDCD796-7482-3E93-1A24-8EE49A5D74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5331248-81EA-A496-151D-17B49EB1A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7183A-56AE-4684-9C95-5FB84A65F4E3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4A0DC06-7A0B-B8C6-3F09-9E2C6C9D9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01015BF-4140-4A0C-C6C9-2D87CF48E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4752E-76BE-4967-AF35-7C8F692636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86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64EF4-7E9D-FAA3-933E-E6A0C9EF7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CF7070-C9AF-E8AF-37BE-DBD68662B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7183A-56AE-4684-9C95-5FB84A65F4E3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674C155-E437-5D87-98A7-00FB9ED02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599F30-78F6-2FEE-7D05-83FF5B0AC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4752E-76BE-4967-AF35-7C8F692636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450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ABA292-E2DC-F242-8581-9E6EC75AB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7183A-56AE-4684-9C95-5FB84A65F4E3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3E07E0C-35BE-01CC-FDA6-02B60F52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0A6873-0C76-EC6E-B586-18C39937E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4752E-76BE-4967-AF35-7C8F692636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416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256DA9-BB59-7E7F-397C-D5A2E2A1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754338-8152-2D85-62A0-291C0F1F3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D7C217-5B8F-F3FC-B0E6-3B07930B4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0510A4-F301-02A8-55C6-13FCB3E3F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7183A-56AE-4684-9C95-5FB84A65F4E3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A3DD00-ADAF-E749-205C-15068DFAC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8E063D-6781-CCF6-3EEA-B2498AABF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4752E-76BE-4967-AF35-7C8F692636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84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CE2D0C-A754-F275-9768-B58167FE0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840B22E-C9F1-7B9F-2BDF-27101A265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1A1091-A93A-4FDD-8A82-AD79FFE9CD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1203A0-92B9-2E17-98EE-F46116AF0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7183A-56AE-4684-9C95-5FB84A65F4E3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FC1231-6BC8-37F2-48FF-F7CBA27E5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AA3ED0-B982-165B-5BAF-8277D57D6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4752E-76BE-4967-AF35-7C8F692636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658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7827A1-C287-8D43-54F3-85320BD6E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338E81-210E-7619-5F4F-41FA8ABC8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C6055A-CCFD-B84C-5003-ED62647BE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7183A-56AE-4684-9C95-5FB84A65F4E3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91F619-033A-CD26-945D-B5329E987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B8B647-0135-6266-0478-8FB0E2A5D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4752E-76BE-4967-AF35-7C8F692636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838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0B95CEE-0CE8-460F-979A-81AE92F8D8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4F10384-CA48-222E-709D-E4DF10DC3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218077-E072-B9E5-8CCA-17902827C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7183A-56AE-4684-9C95-5FB84A65F4E3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973023-DCC9-D462-1409-CC45B660E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1021E2-E336-9FAB-2F1F-49D8CB9BA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4752E-76BE-4967-AF35-7C8F692636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863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68830F-B6E1-8161-AE76-9BD93A3E0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321102-EA09-97B9-15B5-A354E60E6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8A45AD-7C4A-3755-C3B2-B80684D4D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37183A-56AE-4684-9C95-5FB84A65F4E3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6C4CF5-72EC-A12E-73F3-7E4270CED9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B773E7-77EA-8EC8-2538-C505A0B3FF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84752E-76BE-4967-AF35-7C8F692636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424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0B85C2-4ECD-4043-FAD2-6F0EAB0BB0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ko-KR" sz="4000" dirty="0" err="1">
                <a:latin typeface="Segoe UI" panose="020B0502040204020203" pitchFamily="34" charset="0"/>
              </a:rPr>
              <a:t>A</a:t>
            </a:r>
            <a:r>
              <a:rPr lang="ko-KR" altLang="ko-KR" sz="4000" dirty="0">
                <a:latin typeface="Segoe UI" panose="020B0502040204020203" pitchFamily="34" charset="0"/>
              </a:rPr>
              <a:t> </a:t>
            </a:r>
            <a:r>
              <a:rPr lang="ko-KR" altLang="ko-KR" sz="4000" dirty="0" err="1">
                <a:latin typeface="Segoe UI" panose="020B0502040204020203" pitchFamily="34" charset="0"/>
              </a:rPr>
              <a:t>Unified</a:t>
            </a:r>
            <a:r>
              <a:rPr lang="ko-KR" altLang="ko-KR" sz="4000" dirty="0">
                <a:latin typeface="Segoe UI" panose="020B0502040204020203" pitchFamily="34" charset="0"/>
              </a:rPr>
              <a:t> </a:t>
            </a:r>
            <a:r>
              <a:rPr lang="ko-KR" altLang="ko-KR" sz="4000" dirty="0" err="1">
                <a:latin typeface="Segoe UI" panose="020B0502040204020203" pitchFamily="34" charset="0"/>
              </a:rPr>
              <a:t>Framework</a:t>
            </a:r>
            <a:r>
              <a:rPr lang="ko-KR" altLang="ko-KR" sz="4000" dirty="0">
                <a:latin typeface="Segoe UI" panose="020B0502040204020203" pitchFamily="34" charset="0"/>
              </a:rPr>
              <a:t> </a:t>
            </a:r>
            <a:br>
              <a:rPr lang="en-US" altLang="ko-KR" sz="4000" dirty="0">
                <a:latin typeface="Segoe UI" panose="020B0502040204020203" pitchFamily="34" charset="0"/>
              </a:rPr>
            </a:br>
            <a:r>
              <a:rPr lang="ko-KR" altLang="ko-KR" sz="4000" dirty="0" err="1">
                <a:latin typeface="Segoe UI" panose="020B0502040204020203" pitchFamily="34" charset="0"/>
              </a:rPr>
              <a:t>for</a:t>
            </a:r>
            <a:r>
              <a:rPr lang="ko-KR" altLang="ko-KR" sz="4000" dirty="0">
                <a:latin typeface="Segoe UI" panose="020B0502040204020203" pitchFamily="34" charset="0"/>
              </a:rPr>
              <a:t> </a:t>
            </a:r>
            <a:r>
              <a:rPr lang="ko-KR" altLang="ko-KR" sz="4000" dirty="0" err="1">
                <a:latin typeface="Segoe UI" panose="020B0502040204020203" pitchFamily="34" charset="0"/>
              </a:rPr>
              <a:t>Graph</a:t>
            </a:r>
            <a:r>
              <a:rPr lang="ko-KR" altLang="ko-KR" sz="4000" dirty="0">
                <a:latin typeface="Segoe UI" panose="020B0502040204020203" pitchFamily="34" charset="0"/>
              </a:rPr>
              <a:t> </a:t>
            </a:r>
            <a:r>
              <a:rPr lang="ko-KR" altLang="ko-KR" sz="4000" dirty="0" err="1">
                <a:latin typeface="Segoe UI" panose="020B0502040204020203" pitchFamily="34" charset="0"/>
              </a:rPr>
              <a:t>Integration</a:t>
            </a:r>
            <a:r>
              <a:rPr lang="ko-KR" altLang="ko-KR" sz="4000" dirty="0">
                <a:latin typeface="Segoe UI" panose="020B0502040204020203" pitchFamily="34" charset="0"/>
              </a:rPr>
              <a:t> </a:t>
            </a:r>
            <a:r>
              <a:rPr lang="ko-KR" altLang="ko-KR" sz="4000" dirty="0" err="1">
                <a:latin typeface="Segoe UI" panose="020B0502040204020203" pitchFamily="34" charset="0"/>
              </a:rPr>
              <a:t>in</a:t>
            </a:r>
            <a:r>
              <a:rPr lang="ko-KR" altLang="ko-KR" sz="4000" dirty="0">
                <a:latin typeface="Segoe UI" panose="020B0502040204020203" pitchFamily="34" charset="0"/>
              </a:rPr>
              <a:t> </a:t>
            </a:r>
            <a:r>
              <a:rPr lang="ko-KR" altLang="ko-KR" sz="4000" dirty="0" err="1">
                <a:latin typeface="Segoe UI" panose="020B0502040204020203" pitchFamily="34" charset="0"/>
              </a:rPr>
              <a:t>Transformers</a:t>
            </a: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B38CEE7-5E64-64E5-14C9-D0B55E280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91896"/>
            <a:ext cx="9144000" cy="1265903"/>
          </a:xfrm>
        </p:spPr>
        <p:txBody>
          <a:bodyPr/>
          <a:lstStyle/>
          <a:p>
            <a:r>
              <a:rPr lang="en-US" altLang="ko-KR" dirty="0"/>
              <a:t>Minha</a:t>
            </a:r>
            <a:r>
              <a:rPr lang="ko-KR" altLang="en-US" dirty="0"/>
              <a:t> </a:t>
            </a:r>
            <a:r>
              <a:rPr lang="en-US" altLang="ko-KR" dirty="0"/>
              <a:t>Kwon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8224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BC226-3392-81A8-1781-253824BA3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F65237-EB4C-2D84-97CA-081C4557A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ko-KR" dirty="0" err="1">
                <a:latin typeface="Segoe UI" panose="020B0502040204020203" pitchFamily="34" charset="0"/>
              </a:rPr>
              <a:t>Motivation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1B0502-4905-D632-107F-AC1249535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490"/>
            <a:ext cx="10134600" cy="515210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ko-KR" b="1" dirty="0" err="1"/>
              <a:t>Transformers</a:t>
            </a:r>
            <a:r>
              <a:rPr lang="ko-KR" altLang="ko-KR" b="1" dirty="0"/>
              <a:t>: </a:t>
            </a:r>
            <a:r>
              <a:rPr lang="en-US" altLang="ko-KR" dirty="0"/>
              <a:t>L</a:t>
            </a:r>
            <a:r>
              <a:rPr lang="ko-KR" altLang="ko-KR" dirty="0" err="1"/>
              <a:t>ack</a:t>
            </a:r>
            <a:r>
              <a:rPr lang="ko-KR" altLang="ko-KR" dirty="0"/>
              <a:t> </a:t>
            </a:r>
            <a:r>
              <a:rPr lang="ko-KR" altLang="ko-KR" dirty="0" err="1"/>
              <a:t>structural</a:t>
            </a:r>
            <a:r>
              <a:rPr lang="ko-KR" altLang="ko-KR" dirty="0"/>
              <a:t> </a:t>
            </a:r>
            <a:r>
              <a:rPr lang="ko-KR" altLang="ko-KR" dirty="0" err="1"/>
              <a:t>awareness</a:t>
            </a:r>
            <a:endParaRPr lang="ko-KR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b="1" dirty="0"/>
              <a:t>  </a:t>
            </a:r>
            <a:r>
              <a:rPr lang="ko-KR" altLang="ko-KR" b="1" dirty="0" err="1"/>
              <a:t>Structural</a:t>
            </a:r>
            <a:r>
              <a:rPr lang="ko-KR" altLang="ko-KR" b="1" dirty="0"/>
              <a:t> </a:t>
            </a:r>
            <a:r>
              <a:rPr lang="ko-KR" altLang="ko-KR" b="1" dirty="0" err="1"/>
              <a:t>Information</a:t>
            </a:r>
            <a:r>
              <a:rPr lang="ko-KR" altLang="ko-KR" b="1" dirty="0"/>
              <a:t> </a:t>
            </a:r>
            <a:r>
              <a:rPr lang="en-US" altLang="ko-KR" dirty="0"/>
              <a:t>→</a:t>
            </a:r>
            <a:r>
              <a:rPr lang="ko-KR" altLang="ko-KR" dirty="0"/>
              <a:t> </a:t>
            </a:r>
            <a:r>
              <a:rPr lang="ko-KR" altLang="ko-KR" dirty="0" err="1"/>
              <a:t>Enhance</a:t>
            </a:r>
            <a:r>
              <a:rPr lang="ko-KR" altLang="ko-KR" dirty="0"/>
              <a:t> </a:t>
            </a:r>
            <a:r>
              <a:rPr lang="ko-KR" altLang="ko-KR" dirty="0" err="1"/>
              <a:t>Transformer</a:t>
            </a:r>
            <a:r>
              <a:rPr lang="ko-KR" altLang="ko-KR" dirty="0"/>
              <a:t> </a:t>
            </a:r>
            <a:r>
              <a:rPr lang="ko-KR" altLang="ko-KR" dirty="0" err="1"/>
              <a:t>Performance</a:t>
            </a: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b="1" dirty="0"/>
          </a:p>
          <a:p>
            <a:pPr>
              <a:lnSpc>
                <a:spcPct val="100000"/>
              </a:lnSpc>
            </a:pPr>
            <a:r>
              <a:rPr lang="en-US" altLang="ko-KR" b="1" dirty="0"/>
              <a:t>Integrate Graphs into Transformers</a:t>
            </a:r>
          </a:p>
          <a:p>
            <a:pPr lvl="1">
              <a:lnSpc>
                <a:spcPct val="100000"/>
              </a:lnSpc>
            </a:pPr>
            <a:r>
              <a:rPr lang="en-US" altLang="ko-KR" dirty="0"/>
              <a:t>Utilizing Self-Attention Mechanisms: </a:t>
            </a:r>
            <a:r>
              <a:rPr lang="en-US" altLang="ko-KR" dirty="0" err="1"/>
              <a:t>Graphormer</a:t>
            </a:r>
            <a:r>
              <a:rPr lang="en-US" altLang="ko-KR" dirty="0"/>
              <a:t>, Attention bias</a:t>
            </a:r>
          </a:p>
          <a:p>
            <a:pPr lvl="1">
              <a:lnSpc>
                <a:spcPct val="100000"/>
              </a:lnSpc>
            </a:pPr>
            <a:r>
              <a:rPr lang="en-US" altLang="ko-KR" dirty="0"/>
              <a:t>Positional Encoding (PE): Encoding structural/topological information of nodes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→</a:t>
            </a:r>
            <a:r>
              <a:rPr lang="ko-KR" altLang="ko-KR" dirty="0"/>
              <a:t> </a:t>
            </a:r>
            <a:r>
              <a:rPr lang="en-US" altLang="ko-KR" dirty="0"/>
              <a:t>Most studies focus only on specific components or propose isolated architectures.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>
              <a:lnSpc>
                <a:spcPct val="100000"/>
              </a:lnSpc>
            </a:pPr>
            <a:r>
              <a:rPr lang="en-US" altLang="ko-KR" b="1" dirty="0"/>
              <a:t>Objective of This Study</a:t>
            </a:r>
          </a:p>
          <a:p>
            <a:pPr lvl="1">
              <a:lnSpc>
                <a:spcPct val="100000"/>
              </a:lnSpc>
            </a:pPr>
            <a:r>
              <a:rPr lang="en-US" altLang="ko-KR" dirty="0"/>
              <a:t>Establishing a Unified Framework for Graph Integration in Transformers.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2906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EE2F73-5C50-47A2-2A0C-D96A58787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>
                <a:latin typeface="Segoe UI" panose="020B0502040204020203" pitchFamily="34" charset="0"/>
              </a:rPr>
              <a:t>Graph</a:t>
            </a:r>
            <a:r>
              <a:rPr lang="ko-KR" altLang="ko-KR" dirty="0">
                <a:latin typeface="Segoe UI" panose="020B0502040204020203" pitchFamily="34" charset="0"/>
              </a:rPr>
              <a:t> </a:t>
            </a:r>
            <a:r>
              <a:rPr lang="ko-KR" altLang="ko-KR" dirty="0" err="1">
                <a:latin typeface="Segoe UI" panose="020B0502040204020203" pitchFamily="34" charset="0"/>
              </a:rPr>
              <a:t>Integration</a:t>
            </a:r>
            <a:r>
              <a:rPr lang="ko-KR" altLang="ko-KR" dirty="0">
                <a:latin typeface="Segoe UI" panose="020B0502040204020203" pitchFamily="34" charset="0"/>
              </a:rPr>
              <a:t> </a:t>
            </a:r>
            <a:r>
              <a:rPr lang="ko-KR" altLang="ko-KR" dirty="0" err="1">
                <a:latin typeface="Segoe UI" panose="020B0502040204020203" pitchFamily="34" charset="0"/>
              </a:rPr>
              <a:t>in</a:t>
            </a:r>
            <a:r>
              <a:rPr lang="ko-KR" altLang="ko-KR" dirty="0">
                <a:latin typeface="Segoe UI" panose="020B0502040204020203" pitchFamily="34" charset="0"/>
              </a:rPr>
              <a:t> </a:t>
            </a:r>
            <a:r>
              <a:rPr lang="ko-KR" altLang="ko-KR" dirty="0" err="1">
                <a:latin typeface="Segoe UI" panose="020B0502040204020203" pitchFamily="34" charset="0"/>
              </a:rPr>
              <a:t>Transformers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E167EF-F21F-4F67-9FA5-7289459F8ACA}"/>
              </a:ext>
            </a:extLst>
          </p:cNvPr>
          <p:cNvSpPr/>
          <p:nvPr/>
        </p:nvSpPr>
        <p:spPr>
          <a:xfrm>
            <a:off x="956834" y="2839280"/>
            <a:ext cx="1412112" cy="178187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Graph Type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918AAD-838F-42FD-BFB6-14FF1F282C3E}"/>
              </a:ext>
            </a:extLst>
          </p:cNvPr>
          <p:cNvSpPr/>
          <p:nvPr/>
        </p:nvSpPr>
        <p:spPr>
          <a:xfrm>
            <a:off x="3004107" y="2839281"/>
            <a:ext cx="1750676" cy="178187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Graph Representation Strategy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F4727A0-F538-3D18-5EF4-9D02C7553CDC}"/>
              </a:ext>
            </a:extLst>
          </p:cNvPr>
          <p:cNvSpPr/>
          <p:nvPr/>
        </p:nvSpPr>
        <p:spPr>
          <a:xfrm>
            <a:off x="5389944" y="2839283"/>
            <a:ext cx="1412111" cy="178187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Positional Encoding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0419FE-065F-B96A-9AFA-E4B987CB0371}"/>
              </a:ext>
            </a:extLst>
          </p:cNvPr>
          <p:cNvSpPr/>
          <p:nvPr/>
        </p:nvSpPr>
        <p:spPr>
          <a:xfrm>
            <a:off x="7437216" y="2839280"/>
            <a:ext cx="1412112" cy="178187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Integration Strategy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3640E4E-138D-1DB5-07B3-3A66EF27D3EF}"/>
              </a:ext>
            </a:extLst>
          </p:cNvPr>
          <p:cNvSpPr/>
          <p:nvPr/>
        </p:nvSpPr>
        <p:spPr>
          <a:xfrm>
            <a:off x="9484488" y="2839279"/>
            <a:ext cx="1574153" cy="178187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Model Architecture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8F2F8C7-6E17-4201-35B9-172044360D5B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2368946" y="3730220"/>
            <a:ext cx="63516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61DE1F5-FAB8-B4C5-B573-8CE6E24AD339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4754783" y="3730221"/>
            <a:ext cx="635161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DF81BC3-B842-7D0F-6F32-D5655D51258C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6802055" y="3730220"/>
            <a:ext cx="635161" cy="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BB6E7D3-C7A3-AD68-5638-24A4751E1FFE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8849328" y="3730219"/>
            <a:ext cx="63516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398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77DC8-AE94-E283-09CD-6885E3EA4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72E694-6CF5-2252-9196-378875CC2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>
                <a:latin typeface="Segoe UI" panose="020B0502040204020203" pitchFamily="34" charset="0"/>
              </a:rPr>
              <a:t>Graph</a:t>
            </a:r>
            <a:r>
              <a:rPr lang="ko-KR" altLang="ko-KR" dirty="0">
                <a:latin typeface="Segoe UI" panose="020B0502040204020203" pitchFamily="34" charset="0"/>
              </a:rPr>
              <a:t> </a:t>
            </a:r>
            <a:r>
              <a:rPr lang="ko-KR" altLang="ko-KR" dirty="0" err="1">
                <a:latin typeface="Segoe UI" panose="020B0502040204020203" pitchFamily="34" charset="0"/>
              </a:rPr>
              <a:t>Integration</a:t>
            </a:r>
            <a:r>
              <a:rPr lang="ko-KR" altLang="ko-KR" dirty="0">
                <a:latin typeface="Segoe UI" panose="020B0502040204020203" pitchFamily="34" charset="0"/>
              </a:rPr>
              <a:t> </a:t>
            </a:r>
            <a:r>
              <a:rPr lang="ko-KR" altLang="ko-KR" dirty="0" err="1">
                <a:latin typeface="Segoe UI" panose="020B0502040204020203" pitchFamily="34" charset="0"/>
              </a:rPr>
              <a:t>in</a:t>
            </a:r>
            <a:r>
              <a:rPr lang="ko-KR" altLang="ko-KR" dirty="0">
                <a:latin typeface="Segoe UI" panose="020B0502040204020203" pitchFamily="34" charset="0"/>
              </a:rPr>
              <a:t> </a:t>
            </a:r>
            <a:r>
              <a:rPr lang="ko-KR" altLang="ko-KR" dirty="0" err="1">
                <a:latin typeface="Segoe UI" panose="020B0502040204020203" pitchFamily="34" charset="0"/>
              </a:rPr>
              <a:t>Transformers</a:t>
            </a:r>
            <a:r>
              <a:rPr lang="en-US" altLang="ko-KR" dirty="0">
                <a:latin typeface="Segoe UI" panose="020B0502040204020203" pitchFamily="34" charset="0"/>
              </a:rPr>
              <a:t> 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31CB884-6EF8-21E3-BC88-AA877FD07A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01" y="1578402"/>
            <a:ext cx="6971396" cy="47460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58B4E2-C569-952A-E892-31F4ACEA237D}"/>
              </a:ext>
            </a:extLst>
          </p:cNvPr>
          <p:cNvSpPr txBox="1"/>
          <p:nvPr/>
        </p:nvSpPr>
        <p:spPr>
          <a:xfrm>
            <a:off x="7964129" y="2207666"/>
            <a:ext cx="405121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ko-KR" sz="18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8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General Graph 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Homogeneous relational entity</a:t>
            </a:r>
          </a:p>
          <a:p>
            <a:endParaRPr lang="en-US" altLang="ko-KR" sz="1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8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Program Structure Graph </a:t>
            </a:r>
            <a:endParaRPr lang="en-US" altLang="ko-KR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 structure dependency graph</a:t>
            </a:r>
          </a:p>
          <a:p>
            <a:endParaRPr lang="en-US" altLang="ko-KR" sz="1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8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Heterogeneous Graph </a:t>
            </a:r>
            <a:endParaRPr lang="en-US" altLang="ko-KR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Multi-type node edges</a:t>
            </a:r>
          </a:p>
          <a:p>
            <a:endParaRPr lang="en-US" altLang="ko-KR" sz="1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8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Hybrid Graph </a:t>
            </a:r>
            <a:endParaRPr lang="en-US" altLang="ko-KR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Multip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le graphs</a:t>
            </a:r>
            <a:r>
              <a:rPr lang="en-US" altLang="ko-KR" sz="1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combined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839E9E5-3BF5-086F-594F-3FC0671BA07D}"/>
              </a:ext>
            </a:extLst>
          </p:cNvPr>
          <p:cNvSpPr/>
          <p:nvPr/>
        </p:nvSpPr>
        <p:spPr>
          <a:xfrm>
            <a:off x="8817077" y="558124"/>
            <a:ext cx="2536723" cy="5604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Graph Type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8294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69E57-A453-3060-185B-A1DC7418A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97B932-3454-ABC6-CB8B-A4A02F2C7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>
                <a:latin typeface="Segoe UI" panose="020B0502040204020203" pitchFamily="34" charset="0"/>
              </a:rPr>
              <a:t>Graph</a:t>
            </a:r>
            <a:r>
              <a:rPr lang="ko-KR" altLang="ko-KR" dirty="0">
                <a:latin typeface="Segoe UI" panose="020B0502040204020203" pitchFamily="34" charset="0"/>
              </a:rPr>
              <a:t> </a:t>
            </a:r>
            <a:r>
              <a:rPr lang="ko-KR" altLang="ko-KR" dirty="0" err="1">
                <a:latin typeface="Segoe UI" panose="020B0502040204020203" pitchFamily="34" charset="0"/>
              </a:rPr>
              <a:t>Integration</a:t>
            </a:r>
            <a:r>
              <a:rPr lang="ko-KR" altLang="ko-KR" dirty="0">
                <a:latin typeface="Segoe UI" panose="020B0502040204020203" pitchFamily="34" charset="0"/>
              </a:rPr>
              <a:t> </a:t>
            </a:r>
            <a:r>
              <a:rPr lang="ko-KR" altLang="ko-KR" dirty="0" err="1">
                <a:latin typeface="Segoe UI" panose="020B0502040204020203" pitchFamily="34" charset="0"/>
              </a:rPr>
              <a:t>in</a:t>
            </a:r>
            <a:r>
              <a:rPr lang="ko-KR" altLang="ko-KR" dirty="0">
                <a:latin typeface="Segoe UI" panose="020B0502040204020203" pitchFamily="34" charset="0"/>
              </a:rPr>
              <a:t> </a:t>
            </a:r>
            <a:r>
              <a:rPr lang="ko-KR" altLang="ko-KR" dirty="0" err="1">
                <a:latin typeface="Segoe UI" panose="020B0502040204020203" pitchFamily="34" charset="0"/>
              </a:rPr>
              <a:t>Transformers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83F3C3C-FE5D-52B8-4125-0211591ECE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5" y="2516754"/>
            <a:ext cx="5369031" cy="3393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7A47F9-2E80-72ED-91EF-2D5700BD3256}"/>
              </a:ext>
            </a:extLst>
          </p:cNvPr>
          <p:cNvSpPr txBox="1"/>
          <p:nvPr/>
        </p:nvSpPr>
        <p:spPr>
          <a:xfrm>
            <a:off x="5663380" y="1883600"/>
            <a:ext cx="6528620" cy="4609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Implicit Representation</a:t>
            </a:r>
          </a:p>
          <a:p>
            <a:pPr>
              <a:lnSpc>
                <a:spcPct val="150000"/>
              </a:lnSpc>
            </a:pPr>
            <a:r>
              <a:rPr lang="en-US" altLang="ko-KR" sz="1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Learn graph structure indirectly through the computation process inside the network</a:t>
            </a:r>
          </a:p>
          <a:p>
            <a:pPr>
              <a:lnSpc>
                <a:spcPct val="150000"/>
              </a:lnSpc>
            </a:pPr>
            <a:endParaRPr lang="ko-KR" altLang="en-US" sz="18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Explicit Representation</a:t>
            </a:r>
          </a:p>
          <a:p>
            <a:pPr>
              <a:lnSpc>
                <a:spcPct val="150000"/>
              </a:lnSpc>
            </a:pPr>
            <a:r>
              <a:rPr lang="en-US" altLang="ko-KR" sz="1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Captures the overall graph structure in embeddings that preserve topology</a:t>
            </a:r>
          </a:p>
          <a:p>
            <a:pPr>
              <a:lnSpc>
                <a:spcPct val="150000"/>
              </a:lnSpc>
            </a:pPr>
            <a:endParaRPr lang="ko-KR" altLang="en-US" sz="1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Encoded Representation</a:t>
            </a:r>
          </a:p>
          <a:p>
            <a:pPr>
              <a:lnSpc>
                <a:spcPct val="150000"/>
              </a:lnSpc>
            </a:pPr>
            <a:r>
              <a:rPr lang="en-US" altLang="ko-KR" sz="1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Graph structure is converted into simple numeric features</a:t>
            </a:r>
          </a:p>
          <a:p>
            <a:pPr>
              <a:lnSpc>
                <a:spcPct val="150000"/>
              </a:lnSpc>
            </a:pPr>
            <a:endParaRPr lang="en-US" altLang="ko-KR" sz="1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41A287B-25C6-2B92-5E47-EDBF322248B5}"/>
              </a:ext>
            </a:extLst>
          </p:cNvPr>
          <p:cNvSpPr/>
          <p:nvPr/>
        </p:nvSpPr>
        <p:spPr>
          <a:xfrm>
            <a:off x="8817077" y="558124"/>
            <a:ext cx="2536723" cy="5604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Graph Representation Strategy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6327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29982-D424-CCC6-32A7-66FAE572F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958D79-F8A9-6C18-6E6C-1221CB2B1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>
                <a:latin typeface="Segoe UI" panose="020B0502040204020203" pitchFamily="34" charset="0"/>
              </a:rPr>
              <a:t>Graph</a:t>
            </a:r>
            <a:r>
              <a:rPr lang="ko-KR" altLang="ko-KR" dirty="0">
                <a:latin typeface="Segoe UI" panose="020B0502040204020203" pitchFamily="34" charset="0"/>
              </a:rPr>
              <a:t> </a:t>
            </a:r>
            <a:r>
              <a:rPr lang="ko-KR" altLang="ko-KR" dirty="0" err="1">
                <a:latin typeface="Segoe UI" panose="020B0502040204020203" pitchFamily="34" charset="0"/>
              </a:rPr>
              <a:t>Integration</a:t>
            </a:r>
            <a:r>
              <a:rPr lang="ko-KR" altLang="ko-KR" dirty="0">
                <a:latin typeface="Segoe UI" panose="020B0502040204020203" pitchFamily="34" charset="0"/>
              </a:rPr>
              <a:t> </a:t>
            </a:r>
            <a:r>
              <a:rPr lang="ko-KR" altLang="ko-KR" dirty="0" err="1">
                <a:latin typeface="Segoe UI" panose="020B0502040204020203" pitchFamily="34" charset="0"/>
              </a:rPr>
              <a:t>in</a:t>
            </a:r>
            <a:r>
              <a:rPr lang="ko-KR" altLang="ko-KR" dirty="0">
                <a:latin typeface="Segoe UI" panose="020B0502040204020203" pitchFamily="34" charset="0"/>
              </a:rPr>
              <a:t> </a:t>
            </a:r>
            <a:r>
              <a:rPr lang="ko-KR" altLang="ko-KR" dirty="0" err="1">
                <a:latin typeface="Segoe UI" panose="020B0502040204020203" pitchFamily="34" charset="0"/>
              </a:rPr>
              <a:t>Transformers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91DA166-CFB5-D2AB-BE08-4EEEC6CCC9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93" y="1760432"/>
            <a:ext cx="6187157" cy="41129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603363-8C03-AC63-FD68-5CB711AE1A73}"/>
              </a:ext>
            </a:extLst>
          </p:cNvPr>
          <p:cNvSpPr txBox="1"/>
          <p:nvPr/>
        </p:nvSpPr>
        <p:spPr>
          <a:xfrm>
            <a:off x="7216878" y="1885541"/>
            <a:ext cx="4896464" cy="4193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Encoding Type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</a:t>
            </a:r>
            <a:r>
              <a:rPr lang="en-US" altLang="ko-KR" sz="1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ositions represented per node (absolute) </a:t>
            </a:r>
          </a:p>
          <a:p>
            <a:pPr>
              <a:lnSpc>
                <a:spcPct val="150000"/>
              </a:lnSpc>
            </a:pPr>
            <a:r>
              <a:rPr lang="en-US" altLang="ko-KR" sz="1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or between node pairs (relative)</a:t>
            </a:r>
          </a:p>
          <a:p>
            <a:pPr>
              <a:lnSpc>
                <a:spcPct val="150000"/>
              </a:lnSpc>
            </a:pPr>
            <a:endParaRPr lang="ko-KR" altLang="en-US" sz="1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Information Type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Which</a:t>
            </a:r>
            <a:r>
              <a:rPr lang="en-US" altLang="ko-KR" sz="1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structural information is used</a:t>
            </a: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1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Embedding Method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</a:t>
            </a:r>
            <a:r>
              <a:rPr lang="en-US" altLang="ko-KR" sz="1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ow structural information is converted </a:t>
            </a:r>
          </a:p>
          <a:p>
            <a:pPr>
              <a:lnSpc>
                <a:spcPct val="150000"/>
              </a:lnSpc>
            </a:pPr>
            <a:r>
              <a:rPr lang="en-US" altLang="ko-KR" sz="1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into vector representations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3953B1-A1CE-E7D8-EF7C-34594122399A}"/>
              </a:ext>
            </a:extLst>
          </p:cNvPr>
          <p:cNvSpPr/>
          <p:nvPr/>
        </p:nvSpPr>
        <p:spPr>
          <a:xfrm>
            <a:off x="8817077" y="558124"/>
            <a:ext cx="2536723" cy="5604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Positinal</a:t>
            </a:r>
            <a:r>
              <a:rPr lang="en-US" altLang="ko-KR" dirty="0"/>
              <a:t> Encoding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4813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4F9DC-6339-7B43-AF17-E958E2845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953340-85F0-56FD-63EB-A46D85B9B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>
                <a:latin typeface="Segoe UI" panose="020B0502040204020203" pitchFamily="34" charset="0"/>
              </a:rPr>
              <a:t>Graph</a:t>
            </a:r>
            <a:r>
              <a:rPr lang="ko-KR" altLang="ko-KR" dirty="0">
                <a:latin typeface="Segoe UI" panose="020B0502040204020203" pitchFamily="34" charset="0"/>
              </a:rPr>
              <a:t> </a:t>
            </a:r>
            <a:r>
              <a:rPr lang="ko-KR" altLang="ko-KR" dirty="0" err="1">
                <a:latin typeface="Segoe UI" panose="020B0502040204020203" pitchFamily="34" charset="0"/>
              </a:rPr>
              <a:t>Integration</a:t>
            </a:r>
            <a:r>
              <a:rPr lang="ko-KR" altLang="ko-KR" dirty="0">
                <a:latin typeface="Segoe UI" panose="020B0502040204020203" pitchFamily="34" charset="0"/>
              </a:rPr>
              <a:t> </a:t>
            </a:r>
            <a:r>
              <a:rPr lang="ko-KR" altLang="ko-KR" dirty="0" err="1">
                <a:latin typeface="Segoe UI" panose="020B0502040204020203" pitchFamily="34" charset="0"/>
              </a:rPr>
              <a:t>in</a:t>
            </a:r>
            <a:r>
              <a:rPr lang="ko-KR" altLang="ko-KR" dirty="0">
                <a:latin typeface="Segoe UI" panose="020B0502040204020203" pitchFamily="34" charset="0"/>
              </a:rPr>
              <a:t> </a:t>
            </a:r>
            <a:r>
              <a:rPr lang="ko-KR" altLang="ko-KR" dirty="0" err="1">
                <a:latin typeface="Segoe UI" panose="020B0502040204020203" pitchFamily="34" charset="0"/>
              </a:rPr>
              <a:t>Transformers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FECAB2F2-0DAE-7B46-5E75-5B3B5DBFC0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53" y="1956619"/>
            <a:ext cx="11266349" cy="392605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02FD9CA8-3CAF-1ACC-BF8F-88F1E81288C2}"/>
              </a:ext>
            </a:extLst>
          </p:cNvPr>
          <p:cNvSpPr/>
          <p:nvPr/>
        </p:nvSpPr>
        <p:spPr>
          <a:xfrm>
            <a:off x="8817077" y="558124"/>
            <a:ext cx="2536723" cy="5604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Positinal</a:t>
            </a:r>
            <a:r>
              <a:rPr lang="en-US" altLang="ko-KR" dirty="0"/>
              <a:t> Encoding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6347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EE05C-768B-50C5-6555-D3317A210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CE8072-FC78-57A4-7448-1A07D3D2C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>
                <a:latin typeface="Segoe UI" panose="020B0502040204020203" pitchFamily="34" charset="0"/>
              </a:rPr>
              <a:t>Graph</a:t>
            </a:r>
            <a:r>
              <a:rPr lang="ko-KR" altLang="ko-KR" dirty="0">
                <a:latin typeface="Segoe UI" panose="020B0502040204020203" pitchFamily="34" charset="0"/>
              </a:rPr>
              <a:t> </a:t>
            </a:r>
            <a:r>
              <a:rPr lang="ko-KR" altLang="ko-KR" dirty="0" err="1">
                <a:latin typeface="Segoe UI" panose="020B0502040204020203" pitchFamily="34" charset="0"/>
              </a:rPr>
              <a:t>Integration</a:t>
            </a:r>
            <a:r>
              <a:rPr lang="ko-KR" altLang="ko-KR" dirty="0">
                <a:latin typeface="Segoe UI" panose="020B0502040204020203" pitchFamily="34" charset="0"/>
              </a:rPr>
              <a:t> </a:t>
            </a:r>
            <a:r>
              <a:rPr lang="ko-KR" altLang="ko-KR" dirty="0" err="1">
                <a:latin typeface="Segoe UI" panose="020B0502040204020203" pitchFamily="34" charset="0"/>
              </a:rPr>
              <a:t>in</a:t>
            </a:r>
            <a:r>
              <a:rPr lang="ko-KR" altLang="ko-KR" dirty="0">
                <a:latin typeface="Segoe UI" panose="020B0502040204020203" pitchFamily="34" charset="0"/>
              </a:rPr>
              <a:t> </a:t>
            </a:r>
            <a:r>
              <a:rPr lang="ko-KR" altLang="ko-KR" dirty="0" err="1">
                <a:latin typeface="Segoe UI" panose="020B0502040204020203" pitchFamily="34" charset="0"/>
              </a:rPr>
              <a:t>Transformers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AFDDEA74-2C54-3130-804A-1EAEC47B71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19" y="2143432"/>
            <a:ext cx="11172962" cy="399212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8F2CDB59-3F46-9D9F-BBB0-30FBA278A9E7}"/>
              </a:ext>
            </a:extLst>
          </p:cNvPr>
          <p:cNvSpPr/>
          <p:nvPr/>
        </p:nvSpPr>
        <p:spPr>
          <a:xfrm>
            <a:off x="8817077" y="558124"/>
            <a:ext cx="2536723" cy="5604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Positinal</a:t>
            </a:r>
            <a:r>
              <a:rPr lang="en-US" altLang="ko-KR" dirty="0"/>
              <a:t> Encoding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401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D304B-A995-D620-4AF5-CF23B45A4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275DD0-D5EB-7FF3-A0CD-758EA1EED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>
                <a:latin typeface="Segoe UI" panose="020B0502040204020203" pitchFamily="34" charset="0"/>
              </a:rPr>
              <a:t>Graph</a:t>
            </a:r>
            <a:r>
              <a:rPr lang="ko-KR" altLang="ko-KR" dirty="0">
                <a:latin typeface="Segoe UI" panose="020B0502040204020203" pitchFamily="34" charset="0"/>
              </a:rPr>
              <a:t> </a:t>
            </a:r>
            <a:r>
              <a:rPr lang="ko-KR" altLang="ko-KR" dirty="0" err="1">
                <a:latin typeface="Segoe UI" panose="020B0502040204020203" pitchFamily="34" charset="0"/>
              </a:rPr>
              <a:t>Integration</a:t>
            </a:r>
            <a:r>
              <a:rPr lang="ko-KR" altLang="ko-KR" dirty="0">
                <a:latin typeface="Segoe UI" panose="020B0502040204020203" pitchFamily="34" charset="0"/>
              </a:rPr>
              <a:t> </a:t>
            </a:r>
            <a:r>
              <a:rPr lang="ko-KR" altLang="ko-KR" dirty="0" err="1">
                <a:latin typeface="Segoe UI" panose="020B0502040204020203" pitchFamily="34" charset="0"/>
              </a:rPr>
              <a:t>in</a:t>
            </a:r>
            <a:r>
              <a:rPr lang="ko-KR" altLang="ko-KR" dirty="0">
                <a:latin typeface="Segoe UI" panose="020B0502040204020203" pitchFamily="34" charset="0"/>
              </a:rPr>
              <a:t> </a:t>
            </a:r>
            <a:r>
              <a:rPr lang="ko-KR" altLang="ko-KR" dirty="0" err="1">
                <a:latin typeface="Segoe UI" panose="020B0502040204020203" pitchFamily="34" charset="0"/>
              </a:rPr>
              <a:t>Transformers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7D514CE5-873F-FF0A-DF1F-69E7501F55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978129"/>
              </p:ext>
            </p:extLst>
          </p:nvPr>
        </p:nvGraphicFramePr>
        <p:xfrm>
          <a:off x="678565" y="2141315"/>
          <a:ext cx="10834870" cy="3970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36764">
                  <a:extLst>
                    <a:ext uri="{9D8B030D-6E8A-4147-A177-3AD203B41FA5}">
                      <a16:colId xmlns:a16="http://schemas.microsoft.com/office/drawing/2014/main" val="3819763343"/>
                    </a:ext>
                  </a:extLst>
                </a:gridCol>
                <a:gridCol w="2997843">
                  <a:extLst>
                    <a:ext uri="{9D8B030D-6E8A-4147-A177-3AD203B41FA5}">
                      <a16:colId xmlns:a16="http://schemas.microsoft.com/office/drawing/2014/main" val="1910606925"/>
                    </a:ext>
                  </a:extLst>
                </a:gridCol>
                <a:gridCol w="5000263">
                  <a:extLst>
                    <a:ext uri="{9D8B030D-6E8A-4147-A177-3AD203B41FA5}">
                      <a16:colId xmlns:a16="http://schemas.microsoft.com/office/drawing/2014/main" val="3277269182"/>
                    </a:ext>
                  </a:extLst>
                </a:gridCol>
              </a:tblGrid>
              <a:tr h="658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Strategy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Integration Level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Representative Examples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32219245"/>
                  </a:ext>
                </a:extLst>
              </a:tr>
              <a:tr h="658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Graph Tokenization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Pre-processing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Node-token transformer, linearized graph models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81645520"/>
                  </a:ext>
                </a:extLst>
              </a:tr>
              <a:tr h="658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Input-level Integration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Input Embedding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PE-based models, feature augmentation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68496733"/>
                  </a:ext>
                </a:extLst>
              </a:tr>
              <a:tr h="658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Attention-level Integration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Attention Score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 err="1">
                          <a:effectLst/>
                        </a:rPr>
                        <a:t>Graphormer</a:t>
                      </a:r>
                      <a:r>
                        <a:rPr lang="en-US" sz="1600" kern="100" dirty="0">
                          <a:effectLst/>
                        </a:rPr>
                        <a:t> 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97676288"/>
                  </a:ext>
                </a:extLst>
              </a:tr>
              <a:tr h="658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QKV-level Integration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Attention Representation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Relational Attention, edge-aware QKV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76702727"/>
                  </a:ext>
                </a:extLst>
              </a:tr>
              <a:tr h="67957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Edge-level Integration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Full Model (Node + Edge)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Relational Transformer, edge update models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24631184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D1D90621-AAD6-FD3D-2118-8CAA46D7C406}"/>
              </a:ext>
            </a:extLst>
          </p:cNvPr>
          <p:cNvSpPr/>
          <p:nvPr/>
        </p:nvSpPr>
        <p:spPr>
          <a:xfrm>
            <a:off x="8817077" y="558124"/>
            <a:ext cx="2536723" cy="5604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Integration Strategy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0298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BCD83-2E65-2041-9EC4-1CB9A0E56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BB274A-3EFA-1AA0-FE9D-5D795A10E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>
                <a:latin typeface="Segoe UI" panose="020B0502040204020203" pitchFamily="34" charset="0"/>
              </a:rPr>
              <a:t>Graph</a:t>
            </a:r>
            <a:r>
              <a:rPr lang="ko-KR" altLang="ko-KR" dirty="0">
                <a:latin typeface="Segoe UI" panose="020B0502040204020203" pitchFamily="34" charset="0"/>
              </a:rPr>
              <a:t> </a:t>
            </a:r>
            <a:r>
              <a:rPr lang="ko-KR" altLang="ko-KR" dirty="0" err="1">
                <a:latin typeface="Segoe UI" panose="020B0502040204020203" pitchFamily="34" charset="0"/>
              </a:rPr>
              <a:t>Integration</a:t>
            </a:r>
            <a:r>
              <a:rPr lang="ko-KR" altLang="ko-KR" dirty="0">
                <a:latin typeface="Segoe UI" panose="020B0502040204020203" pitchFamily="34" charset="0"/>
              </a:rPr>
              <a:t> </a:t>
            </a:r>
            <a:r>
              <a:rPr lang="ko-KR" altLang="ko-KR" dirty="0" err="1">
                <a:latin typeface="Segoe UI" panose="020B0502040204020203" pitchFamily="34" charset="0"/>
              </a:rPr>
              <a:t>in</a:t>
            </a:r>
            <a:r>
              <a:rPr lang="ko-KR" altLang="ko-KR" dirty="0">
                <a:latin typeface="Segoe UI" panose="020B0502040204020203" pitchFamily="34" charset="0"/>
              </a:rPr>
              <a:t> </a:t>
            </a:r>
            <a:r>
              <a:rPr lang="ko-KR" altLang="ko-KR" dirty="0" err="1">
                <a:latin typeface="Segoe UI" panose="020B0502040204020203" pitchFamily="34" charset="0"/>
              </a:rPr>
              <a:t>Transformers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C2CC655-ED4C-A933-67FB-686E1D61C9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392" y="1622324"/>
            <a:ext cx="9886776" cy="5096694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30DB9405-4A3C-2021-1957-52FF0BA3DA27}"/>
              </a:ext>
            </a:extLst>
          </p:cNvPr>
          <p:cNvSpPr/>
          <p:nvPr/>
        </p:nvSpPr>
        <p:spPr>
          <a:xfrm>
            <a:off x="8817077" y="558124"/>
            <a:ext cx="2536723" cy="5604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Model </a:t>
            </a:r>
            <a:r>
              <a:rPr lang="en-US" altLang="ko-KR" dirty="0" err="1"/>
              <a:t>Archtechture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7993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B47F02-EE40-E211-1019-33AF4B50B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Case Analysis 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14145FF8-70EF-DAB3-3AFA-575A935503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5583556"/>
              </p:ext>
            </p:extLst>
          </p:nvPr>
        </p:nvGraphicFramePr>
        <p:xfrm>
          <a:off x="493854" y="2268639"/>
          <a:ext cx="11289174" cy="41024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69985">
                  <a:extLst>
                    <a:ext uri="{9D8B030D-6E8A-4147-A177-3AD203B41FA5}">
                      <a16:colId xmlns:a16="http://schemas.microsoft.com/office/drawing/2014/main" val="3257678538"/>
                    </a:ext>
                  </a:extLst>
                </a:gridCol>
                <a:gridCol w="2187615">
                  <a:extLst>
                    <a:ext uri="{9D8B030D-6E8A-4147-A177-3AD203B41FA5}">
                      <a16:colId xmlns:a16="http://schemas.microsoft.com/office/drawing/2014/main" val="3328034351"/>
                    </a:ext>
                  </a:extLst>
                </a:gridCol>
                <a:gridCol w="1770927">
                  <a:extLst>
                    <a:ext uri="{9D8B030D-6E8A-4147-A177-3AD203B41FA5}">
                      <a16:colId xmlns:a16="http://schemas.microsoft.com/office/drawing/2014/main" val="3205993233"/>
                    </a:ext>
                  </a:extLst>
                </a:gridCol>
                <a:gridCol w="2176040">
                  <a:extLst>
                    <a:ext uri="{9D8B030D-6E8A-4147-A177-3AD203B41FA5}">
                      <a16:colId xmlns:a16="http://schemas.microsoft.com/office/drawing/2014/main" val="1724743215"/>
                    </a:ext>
                  </a:extLst>
                </a:gridCol>
                <a:gridCol w="2152892">
                  <a:extLst>
                    <a:ext uri="{9D8B030D-6E8A-4147-A177-3AD203B41FA5}">
                      <a16:colId xmlns:a16="http://schemas.microsoft.com/office/drawing/2014/main" val="910795097"/>
                    </a:ext>
                  </a:extLst>
                </a:gridCol>
                <a:gridCol w="1531715">
                  <a:extLst>
                    <a:ext uri="{9D8B030D-6E8A-4147-A177-3AD203B41FA5}">
                      <a16:colId xmlns:a16="http://schemas.microsoft.com/office/drawing/2014/main" val="733492095"/>
                    </a:ext>
                  </a:extLst>
                </a:gridCol>
              </a:tblGrid>
              <a:tr h="76251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Model/Type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Graph Type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Representation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Positional Encoding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Integration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Architecture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12240711"/>
                  </a:ext>
                </a:extLst>
              </a:tr>
              <a:tr h="76251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 dirty="0" err="1">
                          <a:effectLst/>
                        </a:rPr>
                        <a:t>Graphormer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Molecular Graph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Encoded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None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Attention-level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Attention Bias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20563992"/>
                  </a:ext>
                </a:extLst>
              </a:tr>
              <a:tr h="88525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 dirty="0" err="1">
                          <a:effectLst/>
                        </a:rPr>
                        <a:t>Allamanis</a:t>
                      </a:r>
                      <a:endParaRPr lang="ko-KR" sz="1600" kern="100" dirty="0">
                        <a:effectLst/>
                      </a:endParaRPr>
                    </a:p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(GGNN)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AST, CFG, DFG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Implicit + Explicit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Structural (edge type)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Input-level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Hybrid (GNN)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2553090"/>
                  </a:ext>
                </a:extLst>
              </a:tr>
              <a:tr h="9296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 dirty="0" err="1">
                          <a:effectLst/>
                        </a:rPr>
                        <a:t>RelGT</a:t>
                      </a:r>
                      <a:r>
                        <a:rPr lang="en-US" sz="1600" kern="100" dirty="0">
                          <a:effectLst/>
                        </a:rPr>
                        <a:t> 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Heterogeneous Graph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Explicit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Relative distance </a:t>
                      </a:r>
                    </a:p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+ type encoding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QKV-level + </a:t>
                      </a:r>
                    </a:p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Tokenization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Relational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71360231"/>
                  </a:ext>
                </a:extLst>
              </a:tr>
              <a:tr h="76251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GENN 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General Graph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Explicit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None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Input-level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Hybrid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960600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6259544-4C2A-15BC-0A6D-BC5061D8E834}"/>
              </a:ext>
            </a:extLst>
          </p:cNvPr>
          <p:cNvSpPr txBox="1"/>
          <p:nvPr/>
        </p:nvSpPr>
        <p:spPr>
          <a:xfrm>
            <a:off x="838200" y="1420769"/>
            <a:ext cx="10038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All graph-transformer approaches can be systematically described by five dimensions</a:t>
            </a:r>
          </a:p>
        </p:txBody>
      </p:sp>
    </p:spTree>
    <p:extLst>
      <p:ext uri="{BB962C8B-B14F-4D97-AF65-F5344CB8AC3E}">
        <p14:creationId xmlns:p14="http://schemas.microsoft.com/office/powerpoint/2010/main" val="3699531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AD651D-54B2-6C1F-CC59-6EB94F6CC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Discussion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F25766-1E04-075F-8274-F213A92303ED}"/>
              </a:ext>
            </a:extLst>
          </p:cNvPr>
          <p:cNvSpPr txBox="1"/>
          <p:nvPr/>
        </p:nvSpPr>
        <p:spPr>
          <a:xfrm>
            <a:off x="838200" y="1573271"/>
            <a:ext cx="10668000" cy="4649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Design Diversity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Models : </a:t>
            </a:r>
            <a:r>
              <a:rPr lang="en-US" altLang="ko-KR" sz="2000" u="sng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combine these five dimensions </a:t>
            </a:r>
            <a:r>
              <a:rPr lang="en-US" altLang="ko-KR" sz="2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rather than introducing entirely new mechanism</a:t>
            </a:r>
          </a:p>
          <a:p>
            <a:pPr>
              <a:lnSpc>
                <a:spcPct val="150000"/>
              </a:lnSpc>
            </a:pPr>
            <a:endParaRPr lang="ko-KR" altLang="en-US" sz="2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Trade-off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- Simpler strategies (encoded + bias) : efficient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- Deeper integration (relational attention) : higher expressiveness</a:t>
            </a:r>
          </a:p>
          <a:p>
            <a:pPr>
              <a:lnSpc>
                <a:spcPct val="150000"/>
              </a:lnSpc>
            </a:pPr>
            <a:endParaRPr lang="ko-KR" altLang="en-US" sz="2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Practical Guideline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- Attention bias : large graph, low complexity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- Relational Attention : complex graph data</a:t>
            </a:r>
          </a:p>
        </p:txBody>
      </p:sp>
    </p:spTree>
    <p:extLst>
      <p:ext uri="{BB962C8B-B14F-4D97-AF65-F5344CB8AC3E}">
        <p14:creationId xmlns:p14="http://schemas.microsoft.com/office/powerpoint/2010/main" val="2076747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D2A0EC-0D85-2E8E-5CCF-2E7DE6D78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Conclusion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1E76F6-F642-C257-3562-E994A7291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Unify graph-transformer models with five design dimensions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en-US" altLang="ko-KR" dirty="0"/>
              <a:t>Explain how existing methods differ and relate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en-US" altLang="ko-KR" dirty="0"/>
              <a:t>Graph integration is not a single technique, but a combination of design choices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en-US" altLang="ko-KR" dirty="0"/>
              <a:t>Understanding these dimensions helps design better, task-specific models.</a:t>
            </a:r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6938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81FD5-C4A4-CECE-C9DE-6041CF783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Thank You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B03C9C-EB6D-6270-B45F-9A0DE93F7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761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447</Words>
  <Application>Microsoft Office PowerPoint</Application>
  <PresentationFormat>와이드스크린</PresentationFormat>
  <Paragraphs>133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Segoe UI</vt:lpstr>
      <vt:lpstr>Office 테마</vt:lpstr>
      <vt:lpstr>A Unified Framework  for Graph Integration in Transformers</vt:lpstr>
      <vt:lpstr>Motivation</vt:lpstr>
      <vt:lpstr>Graph Integration in Transformers</vt:lpstr>
      <vt:lpstr>Graph Integration in Transformers </vt:lpstr>
      <vt:lpstr>Graph Integration in Transformers</vt:lpstr>
      <vt:lpstr>Graph Integration in Transformers</vt:lpstr>
      <vt:lpstr>Graph Integration in Transformers</vt:lpstr>
      <vt:lpstr>Graph Integration in Transformers</vt:lpstr>
      <vt:lpstr>Graph Integration in Transformers</vt:lpstr>
      <vt:lpstr>Graph Integration in Transformers</vt:lpstr>
      <vt:lpstr>Case Analysis </vt:lpstr>
      <vt:lpstr>Discussion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권민하/22000034</dc:creator>
  <cp:lastModifiedBy>권민하/22000034</cp:lastModifiedBy>
  <cp:revision>10</cp:revision>
  <dcterms:created xsi:type="dcterms:W3CDTF">2026-06-09T07:09:26Z</dcterms:created>
  <dcterms:modified xsi:type="dcterms:W3CDTF">2026-06-11T12:27:01Z</dcterms:modified>
</cp:coreProperties>
</file>